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  <p:sldMasterId id="2147483660" r:id="rId2"/>
  </p:sldMasterIdLst>
  <p:notesMasterIdLst>
    <p:notesMasterId r:id="rId16"/>
  </p:notesMasterIdLst>
  <p:sldIdLst>
    <p:sldId id="256" r:id="rId3"/>
    <p:sldId id="257" r:id="rId4"/>
    <p:sldId id="258" r:id="rId5"/>
    <p:sldId id="259" r:id="rId6"/>
    <p:sldId id="266" r:id="rId7"/>
    <p:sldId id="260" r:id="rId8"/>
    <p:sldId id="267" r:id="rId9"/>
    <p:sldId id="261" r:id="rId10"/>
    <p:sldId id="268" r:id="rId11"/>
    <p:sldId id="262" r:id="rId12"/>
    <p:sldId id="263" r:id="rId13"/>
    <p:sldId id="264" r:id="rId14"/>
    <p:sldId id="265" r:id="rId15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5F9FC"/>
    <a:srgbClr val="F3F7F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3" d="100"/>
          <a:sy n="93" d="100"/>
        </p:scale>
        <p:origin x="100" y="22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26.02.2026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大家好，今天我将为大家展示一款功能强大的文档智能总结助手。这款工具旨在成为您的一站式AI文档处理解决方案，极大地提升您处理文档的效率和精准度。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本次展示将分为五个部分，首先介绍工具的核心价值和应用场景，然后详细解析其三大核心功能，接着通过一个简单的演示让大家快速了解操作流程，之后总结工具的核心优势，最后进行总结与展望。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的文档智能总结助手是一款真正的一站式工具，它将文件解析、AI总结、翻译、对比、导出和历史管理等多种功能集成在一起，让您无需在多个软件之间切换。无论是需要快速总结报告的职场人士，还是需要对比文献的研究者，都能从中受益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首先来看核心功能之一：AI智能总结。它支持PDF、DOCX、TXT等主流格式，您可以自由设置总结的字数和风格，无论是简洁的要点还是详细的展开，都能满足您的需求。最终，您将获得一份精准的总结、核心关键词以及详细的文档统计信息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665040-DC46-AB2F-D59B-22A90107DE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006A763-44D5-2D78-AC49-170BAFBCCB3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B9EF220-B7A0-1526-E147-AA3F2A9B3806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166B2010-3B23-DAF1-404A-A51DBEF6247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07F29DAE-B55C-5B63-201E-58D181028B1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首先来看核心功能之一：AI智能总结。它支持PDF、DOCX、TXT等主流格式，您可以自由设置总结的字数和风格，无论是简洁的要点还是详细的展开，都能满足您的需求。最终，您将获得一份精准的总结、核心关键词以及详细的文档统计信息。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7EE551-124B-E52D-B38C-0DBD0DE8483B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6E974E-AAF7-C802-BFE7-BB5728AACD2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51083568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第二个核心功能是智能文档对比。您可以上传两份文档，选择感兴趣的对比维度，工具会自动进行基础信息的对比，并通过AI进行深度的差异分析，最后将结果导出，方便您保存和分享。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920E58-BADD-AD65-7102-661BD2195B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EC60391-93F7-6572-9F30-250BFC25D42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6DFCB4A-84F5-FCBA-C355-957FC2D073CB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F84F5072-4D5C-4EFE-885E-0F845BDF8B8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2B5E9169-A46B-4946-0D56-F1560DFFEBC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第二个核心功能是智能文档对比。您可以上传两份文档，选择感兴趣的对比维度，工具会自动进行基础信息的对比，并通过AI进行深度的差异分析，最后将结果导出，方便您保存和分享。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498388-D6E8-B1BF-BD23-AD0181287AFF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B1EDEF-8D8D-E0E3-249F-F292019CA81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292839661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第三个核心功能是总结翻译。在生成中文总结后，您只需一键即可将其翻译成英文。翻译结果会在一个独立的面板中展示，非常清晰，并且支持一键复制，方便您在其他地方使用。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4A4DE0-99DE-2E6B-9B05-AF9B200FF7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3C907C2-722D-0123-C7C8-0998F66191F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32A3346-967C-1991-015B-513976BD623C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15069AB6-4EF9-2EFA-BF7A-A58B7254239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1AB31CE0-0252-ADF9-F4EC-2C0AB837177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第三个核心功能是总结翻译。在生成中文总结后，您只需一键即可将其翻译成英文。翻译结果会在一个独立的面板中展示，非常清晰，并且支持一键复制，方便您在其他地方使用。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E1A879-37A3-E376-AEEE-F90296FB4D4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95DDF08-578B-98FA-2509-F134FC12B5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55567007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了解了核心功能后，我们来看一下具体的操作流程，非常简单，只需三步。第一步，上传您的文件，可以是PDF、DOCX或TXT格式。第二步，根据您的需求选择总结、对比或翻译功能。第三步，您就可以查看并导出AI为您生成的结果了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 dirty="0">
                <a:solidFill>
                  <a:srgbClr val="000000"/>
                </a:solidFill>
              </a:rPr>
              <a:t>总结一下，我们的工具具有四大核心优势。首先是高效，一站式处理流程能为您节省大量时间。其次是精准，依托强大的AI算法，分析结果非常可靠。第三是便捷，拖拽式操作、一键导出和本地历史记录管理，让使用体验非常流畅。最后是安全，工具采用纯前端实现，您的本地文件不会被上传到第三方服务器，保障了您的数据安全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总的来说，文档智能总结助手是一款能真正提升您工作效率的工具。我们也将不断努力，在未来持续优化AI算法，支持更多的文件格式，并增加如多语言翻译、文档格式转换等更多实用功能，为您提供更好的服务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我的展示到此结束，感谢大家的观看。我们非常期待您的使用，并欢迎您提出宝贵的反馈意见。谢谢！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幻灯片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" name="Shape 31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4" name="Shape 3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" name="Shape 3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" name="Shape 3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内容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9" name="Shape 55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0" name="Shape 5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1" name="Shape 5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2" name="Shape 5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节标题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5" name="Shape 60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Shape 6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7" name="Shape 6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8" name="Shape 6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两栏内容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1" name="Shape 10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2" name="Shape 11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3" name="Shape 1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4" name="Shape 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5" name="Shape 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比较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8" name="Shape 36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39" name="Shape 37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0" name="Shape 38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1" name="Shape 39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2" name="Shape 4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3" name="Shape 4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4" name="Shape 4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仅标题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7" name="Shape 2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8" name="Shape 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9" name="Shape 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空白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2" name="Shape 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3" name="Shape 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内容与标题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6" name="Shape 44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57" name="Shape 45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58" name="Shape 4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9" name="Shape 4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0" name="Shape 4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图片与标题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3" name="Shape 25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65" name="Shape 2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6" name="Shape 2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7" name="Shape 2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竖排文字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0" name="Shape 50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1" name="Shape 5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2" name="Shape 5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3" name="Shape 5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竖排标题与文本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>
            <a:spLocks noGrp="1"/>
          </p:cNvSpPr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6" name="Shape 16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7" name="Shape 1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8" name="Shape 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9" name="Shape 1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sz="3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7" name="Shape 2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Shape 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Shape 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Shape 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默认主题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5748369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svg"/><Relationship Id="rId3" Type="http://schemas.openxmlformats.org/officeDocument/2006/relationships/image" Target="../media/image2.jpeg"/><Relationship Id="rId7" Type="http://schemas.openxmlformats.org/officeDocument/2006/relationships/image" Target="../media/image6.svg"/><Relationship Id="rId12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jpeg"/><Relationship Id="rId3" Type="http://schemas.openxmlformats.org/officeDocument/2006/relationships/image" Target="../media/image2.jpeg"/><Relationship Id="rId7" Type="http://schemas.openxmlformats.org/officeDocument/2006/relationships/image" Target="../media/image16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5.png"/><Relationship Id="rId5" Type="http://schemas.openxmlformats.org/officeDocument/2006/relationships/image" Target="../media/image14.svg"/><Relationship Id="rId4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2.jpeg"/><Relationship Id="rId7" Type="http://schemas.openxmlformats.org/officeDocument/2006/relationships/image" Target="../media/image21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0.png"/><Relationship Id="rId5" Type="http://schemas.openxmlformats.org/officeDocument/2006/relationships/image" Target="../media/image19.svg"/><Relationship Id="rId10" Type="http://schemas.openxmlformats.org/officeDocument/2006/relationships/image" Target="../media/image24.jpeg"/><Relationship Id="rId4" Type="http://schemas.openxmlformats.org/officeDocument/2006/relationships/image" Target="../media/image18.png"/><Relationship Id="rId9" Type="http://schemas.openxmlformats.org/officeDocument/2006/relationships/image" Target="../media/image23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2.jpeg"/><Relationship Id="rId7" Type="http://schemas.openxmlformats.org/officeDocument/2006/relationships/image" Target="../media/image29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8.png"/><Relationship Id="rId5" Type="http://schemas.openxmlformats.org/officeDocument/2006/relationships/image" Target="../media/image27.svg"/><Relationship Id="rId10" Type="http://schemas.openxmlformats.org/officeDocument/2006/relationships/image" Target="../media/image30.jpeg"/><Relationship Id="rId4" Type="http://schemas.openxmlformats.org/officeDocument/2006/relationships/image" Target="../media/image26.png"/><Relationship Id="rId9" Type="http://schemas.openxmlformats.org/officeDocument/2006/relationships/image" Target="../media/image23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image" Target="../media/image2.jpeg"/><Relationship Id="rId7" Type="http://schemas.openxmlformats.org/officeDocument/2006/relationships/image" Target="../media/image35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4.png"/><Relationship Id="rId5" Type="http://schemas.openxmlformats.org/officeDocument/2006/relationships/image" Target="../media/image33.svg"/><Relationship Id="rId10" Type="http://schemas.openxmlformats.org/officeDocument/2006/relationships/image" Target="../media/image38.jpeg"/><Relationship Id="rId4" Type="http://schemas.openxmlformats.org/officeDocument/2006/relationships/image" Target="../media/image32.png"/><Relationship Id="rId9" Type="http://schemas.openxmlformats.org/officeDocument/2006/relationships/image" Target="../media/image37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2.jpeg"/><Relationship Id="rId5" Type="http://schemas.openxmlformats.org/officeDocument/2006/relationships/image" Target="../media/image41.jpeg"/><Relationship Id="rId4" Type="http://schemas.openxmlformats.org/officeDocument/2006/relationships/image" Target="../media/image40.jpe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png"/><Relationship Id="rId3" Type="http://schemas.openxmlformats.org/officeDocument/2006/relationships/image" Target="../media/image2.jpeg"/><Relationship Id="rId7" Type="http://schemas.openxmlformats.org/officeDocument/2006/relationships/image" Target="../media/image46.sv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5.png"/><Relationship Id="rId11" Type="http://schemas.openxmlformats.org/officeDocument/2006/relationships/image" Target="../media/image50.svg"/><Relationship Id="rId5" Type="http://schemas.openxmlformats.org/officeDocument/2006/relationships/image" Target="../media/image44.svg"/><Relationship Id="rId10" Type="http://schemas.openxmlformats.org/officeDocument/2006/relationships/image" Target="../media/image49.png"/><Relationship Id="rId4" Type="http://schemas.openxmlformats.org/officeDocument/2006/relationships/image" Target="../media/image43.png"/><Relationship Id="rId9" Type="http://schemas.openxmlformats.org/officeDocument/2006/relationships/image" Target="../media/image48.sv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jpeg"/><Relationship Id="rId3" Type="http://schemas.openxmlformats.org/officeDocument/2006/relationships/image" Target="../media/image2.jpeg"/><Relationship Id="rId7" Type="http://schemas.openxmlformats.org/officeDocument/2006/relationships/image" Target="../media/image44.sv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3.png"/><Relationship Id="rId5" Type="http://schemas.openxmlformats.org/officeDocument/2006/relationships/image" Target="../media/image27.svg"/><Relationship Id="rId4" Type="http://schemas.openxmlformats.org/officeDocument/2006/relationships/image" Target="../media/image2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192F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1016000" y="2286000"/>
            <a:ext cx="1016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文档智能总结助手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016000" y="3175000"/>
            <a:ext cx="1016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400" b="0" i="0" u="none" strike="noStrike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功能全解析</a:t>
            </a:r>
            <a:endParaRPr lang="en-US" sz="1100"/>
          </a:p>
        </p:txBody>
      </p:sp>
      <p:cxnSp>
        <p:nvCxnSpPr>
          <p:cNvPr id="6" name="Connector 6"/>
          <p:cNvCxnSpPr/>
          <p:nvPr/>
        </p:nvCxnSpPr>
        <p:spPr>
          <a:xfrm rot="-42969">
            <a:off x="5588040" y="3867150"/>
            <a:ext cx="101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38100" cap="flat" cmpd="sng">
            <a:solidFill>
              <a:srgbClr val="007AFF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7" name="AutoShape 7"/>
          <p:cNvSpPr/>
          <p:nvPr/>
        </p:nvSpPr>
        <p:spPr>
          <a:xfrm>
            <a:off x="1016000" y="4127500"/>
            <a:ext cx="1016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一站式AI文档处理解决方案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5849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 dirty="0" err="1">
                <a:solidFill>
                  <a:srgbClr val="007AFF"/>
                </a:solidFill>
                <a:latin typeface="Noto Sans SC"/>
                <a:ea typeface="Noto Sans SC"/>
                <a:cs typeface="Noto Sans SC"/>
                <a:sym typeface="Noto Sans SC"/>
              </a:rPr>
              <a:t>目录</a:t>
            </a:r>
            <a:endParaRPr lang="en-US" sz="1100" dirty="0"/>
          </a:p>
        </p:txBody>
      </p:sp>
      <p:sp>
        <p:nvSpPr>
          <p:cNvPr id="3" name="AutoShape 3"/>
          <p:cNvSpPr/>
          <p:nvPr/>
        </p:nvSpPr>
        <p:spPr>
          <a:xfrm>
            <a:off x="762000" y="1627510"/>
            <a:ext cx="10668000" cy="762000"/>
          </a:xfrm>
          <a:prstGeom prst="roundRect">
            <a:avLst>
              <a:gd name="adj" fmla="val 16666"/>
            </a:avLst>
          </a:prstGeom>
          <a:solidFill>
            <a:srgbClr val="FFFFFF">
              <a:alpha val="85000"/>
            </a:srgbClr>
          </a:solidFill>
          <a:ln cap="flat" cmpd="sng">
            <a:solidFill>
              <a:srgbClr val="E6CFCF">
                <a:alpha val="85000"/>
              </a:srgbClr>
            </a:solidFill>
            <a:prstDash val="solid"/>
            <a:round/>
          </a:ln>
          <a:effectLst>
            <a:outerShdw blurRad="101600" dist="50800" dir="2700000" algn="tl" rotWithShape="0">
              <a:srgbClr val="007AFF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6000" y="1818010"/>
            <a:ext cx="381000" cy="3810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1587500" y="1627510"/>
            <a:ext cx="9525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01 工具简介：核心价值与应用场景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762000" y="2580010"/>
            <a:ext cx="10668000" cy="762000"/>
          </a:xfrm>
          <a:prstGeom prst="roundRect">
            <a:avLst>
              <a:gd name="adj" fmla="val 16666"/>
            </a:avLst>
          </a:prstGeom>
          <a:solidFill>
            <a:srgbClr val="FFFFFF">
              <a:alpha val="85000"/>
            </a:srgbClr>
          </a:solidFill>
          <a:ln cap="flat" cmpd="sng">
            <a:solidFill>
              <a:srgbClr val="E6CFCF">
                <a:alpha val="85000"/>
              </a:srgbClr>
            </a:solidFill>
            <a:prstDash val="solid"/>
            <a:round/>
          </a:ln>
          <a:effectLst>
            <a:outerShdw blurRad="101600" dist="50800" dir="2700000" algn="tl" rotWithShape="0">
              <a:srgbClr val="007AFF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16000" y="2770510"/>
            <a:ext cx="381000" cy="3810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587500" y="2580010"/>
            <a:ext cx="9525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02 核心功能：智能总结、文档对比、翻译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762000" y="3532510"/>
            <a:ext cx="10668000" cy="762000"/>
          </a:xfrm>
          <a:prstGeom prst="roundRect">
            <a:avLst>
              <a:gd name="adj" fmla="val 16666"/>
            </a:avLst>
          </a:prstGeom>
          <a:solidFill>
            <a:srgbClr val="FFFFFF">
              <a:alpha val="85000"/>
            </a:srgbClr>
          </a:solidFill>
          <a:ln cap="flat" cmpd="sng">
            <a:solidFill>
              <a:srgbClr val="E6CFCF">
                <a:alpha val="85000"/>
              </a:srgbClr>
            </a:solidFill>
            <a:prstDash val="solid"/>
            <a:round/>
          </a:ln>
          <a:effectLst>
            <a:outerShdw blurRad="101600" dist="50800" dir="2700000" algn="tl" rotWithShape="0">
              <a:srgbClr val="007AFF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16000" y="3723010"/>
            <a:ext cx="381000" cy="3810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1587500" y="3532510"/>
            <a:ext cx="9525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03 操作演示：三步轻松上手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762000" y="4485010"/>
            <a:ext cx="10668000" cy="762000"/>
          </a:xfrm>
          <a:prstGeom prst="roundRect">
            <a:avLst>
              <a:gd name="adj" fmla="val 16666"/>
            </a:avLst>
          </a:prstGeom>
          <a:solidFill>
            <a:srgbClr val="FFFFFF">
              <a:alpha val="85000"/>
            </a:srgbClr>
          </a:solidFill>
          <a:ln cap="flat" cmpd="sng">
            <a:solidFill>
              <a:srgbClr val="E6CFCF">
                <a:alpha val="85000"/>
              </a:srgbClr>
            </a:solidFill>
            <a:prstDash val="solid"/>
            <a:round/>
          </a:ln>
          <a:effectLst>
            <a:outerShdw blurRad="101600" dist="50800" dir="2700000" algn="tl" rotWithShape="0">
              <a:srgbClr val="007AFF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016000" y="4675510"/>
            <a:ext cx="381000" cy="3810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1587500" y="4485010"/>
            <a:ext cx="9525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04 核心优势：高效、精准、便捷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762000" y="5437510"/>
            <a:ext cx="10668000" cy="762000"/>
          </a:xfrm>
          <a:prstGeom prst="roundRect">
            <a:avLst>
              <a:gd name="adj" fmla="val 16666"/>
            </a:avLst>
          </a:prstGeom>
          <a:solidFill>
            <a:srgbClr val="FFFFFF">
              <a:alpha val="85000"/>
            </a:srgbClr>
          </a:solidFill>
          <a:ln cap="flat" cmpd="sng">
            <a:solidFill>
              <a:srgbClr val="E6CFCF">
                <a:alpha val="85000"/>
              </a:srgbClr>
            </a:solidFill>
            <a:prstDash val="solid"/>
            <a:round/>
          </a:ln>
          <a:effectLst>
            <a:outerShdw blurRad="101600" dist="50800" dir="2700000" algn="tl" rotWithShape="0">
              <a:srgbClr val="007AFF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016000" y="5628010"/>
            <a:ext cx="381000" cy="3810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1587500" y="5437510"/>
            <a:ext cx="9525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05 总结与展望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1016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007AFF"/>
                </a:solidFill>
                <a:latin typeface="Noto Sans SC"/>
                <a:ea typeface="Noto Sans SC"/>
                <a:cs typeface="Noto Sans SC"/>
                <a:sym typeface="Noto Sans SC"/>
              </a:rPr>
              <a:t>工具简介：一站式AI文档处理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2032000"/>
            <a:ext cx="5080000" cy="1905000"/>
          </a:xfrm>
          <a:prstGeom prst="roundRect">
            <a:avLst>
              <a:gd name="adj" fmla="val 6666"/>
            </a:avLst>
          </a:prstGeom>
          <a:solidFill>
            <a:srgbClr val="FFFFFF">
              <a:alpha val="9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007AFF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6000" y="2222500"/>
            <a:ext cx="355600" cy="3556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1460500" y="2184400"/>
            <a:ext cx="41275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核心价值：全功能集成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016000" y="2641600"/>
            <a:ext cx="4572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集文件解析、AI总结、翻译、对比、导出及历史管理于一体，打破软件壁垒，无需在多个工具间频繁切换，提升效率。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762000" y="4191000"/>
            <a:ext cx="5080000" cy="1905000"/>
          </a:xfrm>
          <a:prstGeom prst="roundRect">
            <a:avLst>
              <a:gd name="adj" fmla="val 6666"/>
            </a:avLst>
          </a:prstGeom>
          <a:solidFill>
            <a:srgbClr val="FFFFFF">
              <a:alpha val="9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007AFF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16000" y="4381500"/>
            <a:ext cx="355600" cy="3556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1460500" y="4343400"/>
            <a:ext cx="41275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应用场景：多人群覆盖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1016000" y="4800600"/>
            <a:ext cx="4572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专为职场人士、学生及研究者设计。适用于报告快速总结、学术文献对比分析、跨语言内容翻译等高频场景。</a:t>
            </a:r>
            <a:endParaRPr lang="en-US" sz="1100"/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8"/>
          <a:srcRect l="13964" r="13964"/>
          <a:stretch>
            <a:fillRect/>
          </a:stretch>
        </p:blipFill>
        <p:spPr>
          <a:xfrm>
            <a:off x="6223000" y="2032000"/>
            <a:ext cx="5207000" cy="4064000"/>
          </a:xfrm>
          <a:prstGeom prst="roundRect">
            <a:avLst>
              <a:gd name="adj" fmla="val 3125"/>
            </a:avLst>
          </a:prstGeom>
          <a:noFill/>
          <a:ln w="25400" cap="flat" cmpd="sng">
            <a:noFill/>
            <a:prstDash val="solid"/>
            <a:round/>
          </a:ln>
          <a:effectLst>
            <a:outerShdw blurRad="190500" dist="76200" dir="2700000" algn="tl" rotWithShape="0">
              <a:srgbClr val="000000">
                <a:alpha val="10000"/>
              </a:srgbClr>
            </a:outerShdw>
          </a:effec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1016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007AFF"/>
                </a:solidFill>
                <a:latin typeface="Noto Sans SC"/>
                <a:ea typeface="Noto Sans SC"/>
                <a:cs typeface="Noto Sans SC"/>
                <a:sym typeface="Noto Sans SC"/>
              </a:rPr>
              <a:t>核心功能：AI智能总结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905000"/>
            <a:ext cx="3302000" cy="1778000"/>
          </a:xfrm>
          <a:prstGeom prst="roundRect">
            <a:avLst>
              <a:gd name="adj" fmla="val 7142"/>
            </a:avLst>
          </a:prstGeom>
          <a:solidFill>
            <a:srgbClr val="FFFFFF">
              <a:alpha val="9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007AFF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6000" y="2095500"/>
            <a:ext cx="406400" cy="4064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1524000" y="2095500"/>
            <a:ext cx="228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多格式支持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016000" y="2540000"/>
            <a:ext cx="2794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兼容主流办公文档格式，包括 PDF、DOCX、TXT，无缝对接您的工作流。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4445000" y="1905000"/>
            <a:ext cx="3302000" cy="1778000"/>
          </a:xfrm>
          <a:prstGeom prst="roundRect">
            <a:avLst>
              <a:gd name="adj" fmla="val 7142"/>
            </a:avLst>
          </a:prstGeom>
          <a:solidFill>
            <a:srgbClr val="FFFFFF">
              <a:alpha val="9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007AFF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699000" y="2095500"/>
            <a:ext cx="406400" cy="4064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5207000" y="2095500"/>
            <a:ext cx="228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灵活自定义配置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4699000" y="2540000"/>
            <a:ext cx="2794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支持设置50-500字总结篇幅，可选简洁要点、详细展开或创意重述风格。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8128000" y="1905000"/>
            <a:ext cx="3302000" cy="1778000"/>
          </a:xfrm>
          <a:prstGeom prst="roundRect">
            <a:avLst>
              <a:gd name="adj" fmla="val 7142"/>
            </a:avLst>
          </a:prstGeom>
          <a:solidFill>
            <a:srgbClr val="FFFFFF">
              <a:alpha val="9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007AFF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382000" y="2095500"/>
            <a:ext cx="406400" cy="4064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8890000" y="2095500"/>
            <a:ext cx="228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多维结果输出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8382000" y="2540000"/>
            <a:ext cx="2794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一键生成精准总结、提取核心关键词，并提供字数、段落数等详细统计信息。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762000" y="3937000"/>
            <a:ext cx="10668000" cy="2413000"/>
          </a:xfrm>
          <a:prstGeom prst="roundRect">
            <a:avLst>
              <a:gd name="adj" fmla="val 5263"/>
            </a:avLst>
          </a:prstGeom>
          <a:solidFill>
            <a:srgbClr val="F5F9FC"/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dirty="0">
              <a:highlight>
                <a:srgbClr val="FFFF00"/>
              </a:highlight>
            </a:endParaRPr>
          </a:p>
        </p:txBody>
      </p:sp>
      <p:pic>
        <p:nvPicPr>
          <p:cNvPr id="1025" name="Picture 1">
            <a:extLst>
              <a:ext uri="{FF2B5EF4-FFF2-40B4-BE49-F238E27FC236}">
                <a16:creationId xmlns:a16="http://schemas.microsoft.com/office/drawing/2014/main" id="{7DFCAE11-9271-B6A0-2283-02F09531A4D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885" b="35589"/>
          <a:stretch>
            <a:fillRect/>
          </a:stretch>
        </p:blipFill>
        <p:spPr bwMode="auto">
          <a:xfrm>
            <a:off x="876300" y="3982978"/>
            <a:ext cx="10439400" cy="23210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Rectangle 2">
            <a:extLst>
              <a:ext uri="{FF2B5EF4-FFF2-40B4-BE49-F238E27FC236}">
                <a16:creationId xmlns:a16="http://schemas.microsoft.com/office/drawing/2014/main" id="{D0BBA5E3-31E5-498E-0912-45C981DE71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-487463" y="4190999"/>
            <a:ext cx="6959600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5E7891-F58A-9D7B-1F0F-F81C8DC039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2">
            <a:extLst>
              <a:ext uri="{FF2B5EF4-FFF2-40B4-BE49-F238E27FC236}">
                <a16:creationId xmlns:a16="http://schemas.microsoft.com/office/drawing/2014/main" id="{C0F18E69-440B-A8DF-4EED-2D335272E1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-487463" y="4190999"/>
            <a:ext cx="6959600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pic>
        <p:nvPicPr>
          <p:cNvPr id="18" name="图片 17" descr="图形用户界面, 文本, 应用程序, 电子邮件&#10;&#10;AI 生成的内容可能不正确。">
            <a:extLst>
              <a:ext uri="{FF2B5EF4-FFF2-40B4-BE49-F238E27FC236}">
                <a16:creationId xmlns:a16="http://schemas.microsoft.com/office/drawing/2014/main" id="{A360DF1D-DB10-7F0C-14BD-961B3B5962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14033" y="0"/>
            <a:ext cx="776393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7819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1016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007AFF"/>
                </a:solidFill>
                <a:latin typeface="Noto Sans SC"/>
                <a:ea typeface="Noto Sans SC"/>
                <a:cs typeface="Noto Sans SC"/>
                <a:sym typeface="Noto Sans SC"/>
              </a:rPr>
              <a:t>核心功能：智能文档对比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2032000"/>
            <a:ext cx="5080000" cy="1143000"/>
          </a:xfrm>
          <a:prstGeom prst="roundRect">
            <a:avLst>
              <a:gd name="adj" fmla="val 11111"/>
            </a:avLst>
          </a:prstGeom>
          <a:solidFill>
            <a:srgbClr val="FFFFFF">
              <a:alpha val="90000"/>
            </a:srgbClr>
          </a:solidFill>
          <a:ln w="12700" cap="flat" cmpd="sng">
            <a:solidFill>
              <a:srgbClr val="007AFF">
                <a:alpha val="20000"/>
              </a:srgbClr>
            </a:solidFill>
            <a:prstDash val="solid"/>
            <a:round/>
          </a:ln>
          <a:effectLst>
            <a:outerShdw blurRad="101600" dist="50800" dir="2700000" algn="tl" rotWithShape="0">
              <a:srgbClr val="007AFF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6000" y="2286000"/>
            <a:ext cx="406400" cy="4064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1574800" y="2222500"/>
            <a:ext cx="4064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双文档灵活对比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574800" y="2603500"/>
            <a:ext cx="4064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支持上传两份文档进行快速比对，自动识别格式并提取文本内容。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762000" y="3365500"/>
            <a:ext cx="5080000" cy="1143000"/>
          </a:xfrm>
          <a:prstGeom prst="roundRect">
            <a:avLst>
              <a:gd name="adj" fmla="val 11111"/>
            </a:avLst>
          </a:prstGeom>
          <a:solidFill>
            <a:srgbClr val="FFFFFF">
              <a:alpha val="90000"/>
            </a:srgbClr>
          </a:solidFill>
          <a:ln w="12700" cap="flat" cmpd="sng">
            <a:solidFill>
              <a:srgbClr val="007AFF">
                <a:alpha val="20000"/>
              </a:srgbClr>
            </a:solidFill>
            <a:prstDash val="solid"/>
            <a:round/>
          </a:ln>
          <a:effectLst>
            <a:outerShdw blurRad="101600" dist="50800" dir="2700000" algn="tl" rotWithShape="0">
              <a:srgbClr val="007AFF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16000" y="3619500"/>
            <a:ext cx="406400" cy="4064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1574800" y="3556000"/>
            <a:ext cx="4064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自定义对比维度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1574800" y="3937000"/>
            <a:ext cx="4064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可灵活勾选内容差异、关键词差异、核心观点差异等多维度进行分析。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762000" y="4699000"/>
            <a:ext cx="5080000" cy="1143000"/>
          </a:xfrm>
          <a:prstGeom prst="roundRect">
            <a:avLst>
              <a:gd name="adj" fmla="val 11111"/>
            </a:avLst>
          </a:prstGeom>
          <a:solidFill>
            <a:srgbClr val="FFFFFF">
              <a:alpha val="90000"/>
            </a:srgbClr>
          </a:solidFill>
          <a:ln w="12700" cap="flat" cmpd="sng">
            <a:solidFill>
              <a:srgbClr val="007AFF">
                <a:alpha val="20000"/>
              </a:srgbClr>
            </a:solidFill>
            <a:prstDash val="solid"/>
            <a:round/>
          </a:ln>
          <a:effectLst>
            <a:outerShdw blurRad="101600" dist="50800" dir="2700000" algn="tl" rotWithShape="0">
              <a:srgbClr val="007AFF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16000" y="4953000"/>
            <a:ext cx="406400" cy="4064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1574800" y="4889500"/>
            <a:ext cx="4064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AI 智能分析与导出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1574800" y="5270500"/>
            <a:ext cx="4064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提供字数、段落等基础信息对比，结合AI深度差异分析，支持一键导出。</a:t>
            </a:r>
            <a:endParaRPr lang="en-US" sz="1100"/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10"/>
          <a:srcRect t="13414" b="13414"/>
          <a:stretch>
            <a:fillRect/>
          </a:stretch>
        </p:blipFill>
        <p:spPr>
          <a:xfrm>
            <a:off x="6223000" y="2032000"/>
            <a:ext cx="5207000" cy="3810000"/>
          </a:xfrm>
          <a:prstGeom prst="roundRect">
            <a:avLst>
              <a:gd name="adj" fmla="val 3333"/>
            </a:avLst>
          </a:prstGeom>
          <a:noFill/>
          <a:ln w="25400" cap="flat" cmpd="sng">
            <a:solidFill>
              <a:srgbClr val="FFFFFF">
                <a:alpha val="100000"/>
              </a:srgbClr>
            </a:solidFill>
            <a:prstDash val="solid"/>
            <a:round/>
          </a:ln>
          <a:effectLst>
            <a:outerShdw blurRad="127000" dist="63500" dir="2700000" algn="tl" rotWithShape="0">
              <a:srgbClr val="000000">
                <a:alpha val="15000"/>
              </a:srgbClr>
            </a:outerShdw>
          </a:effec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4DFDC1-6755-6CFC-0E00-BE8DD7B412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图片 16" descr="图形用户界面, 文本, 应用程序, 电子邮件&#10;&#10;AI 生成的内容可能不正确。">
            <a:extLst>
              <a:ext uri="{FF2B5EF4-FFF2-40B4-BE49-F238E27FC236}">
                <a16:creationId xmlns:a16="http://schemas.microsoft.com/office/drawing/2014/main" id="{001B954F-FC39-8185-2FF0-32F270D516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69326" y="0"/>
            <a:ext cx="765334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06430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1016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007AFF"/>
                </a:solidFill>
                <a:latin typeface="Noto Sans SC"/>
                <a:ea typeface="Noto Sans SC"/>
                <a:cs typeface="Noto Sans SC"/>
                <a:sym typeface="Noto Sans SC"/>
              </a:rPr>
              <a:t>核心功能：总结翻译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2032000"/>
            <a:ext cx="5080000" cy="1143000"/>
          </a:xfrm>
          <a:prstGeom prst="roundRect">
            <a:avLst>
              <a:gd name="adj" fmla="val 11111"/>
            </a:avLst>
          </a:prstGeom>
          <a:solidFill>
            <a:srgbClr val="FFFFFF">
              <a:alpha val="85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007AFF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6000" y="2286000"/>
            <a:ext cx="609600" cy="6096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1778000" y="2222500"/>
            <a:ext cx="381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一键翻译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778000" y="2603500"/>
            <a:ext cx="381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将中文总结快速翻译为英文，操作简单高效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762000" y="3365500"/>
            <a:ext cx="5080000" cy="1143000"/>
          </a:xfrm>
          <a:prstGeom prst="roundRect">
            <a:avLst>
              <a:gd name="adj" fmla="val 11111"/>
            </a:avLst>
          </a:prstGeom>
          <a:solidFill>
            <a:srgbClr val="FFFFFF">
              <a:alpha val="85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007AFF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16000" y="3619500"/>
            <a:ext cx="609600" cy="6096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1778000" y="3556000"/>
            <a:ext cx="381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结果展示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1778000" y="3937000"/>
            <a:ext cx="381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在独立面板展示翻译结果，替代弹窗，界面更清晰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762000" y="4699000"/>
            <a:ext cx="5080000" cy="1143000"/>
          </a:xfrm>
          <a:prstGeom prst="roundRect">
            <a:avLst>
              <a:gd name="adj" fmla="val 11111"/>
            </a:avLst>
          </a:prstGeom>
          <a:solidFill>
            <a:srgbClr val="FFFFFF">
              <a:alpha val="85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007AFF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16000" y="4953000"/>
            <a:ext cx="609600" cy="6096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1778000" y="4889500"/>
            <a:ext cx="381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便捷操作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1778000" y="5270500"/>
            <a:ext cx="381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支持一键复制翻译结果，方便在其他文档中粘贴使用</a:t>
            </a:r>
            <a:endParaRPr lang="en-US" sz="1100"/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10"/>
          <a:srcRect l="13146" r="13146"/>
          <a:stretch>
            <a:fillRect/>
          </a:stretch>
        </p:blipFill>
        <p:spPr>
          <a:xfrm>
            <a:off x="6350000" y="2159000"/>
            <a:ext cx="4826000" cy="3683000"/>
          </a:xfrm>
          <a:prstGeom prst="roundRect">
            <a:avLst>
              <a:gd name="adj" fmla="val 6896"/>
            </a:avLst>
          </a:prstGeom>
          <a:noFill/>
          <a:ln w="25400" cap="flat" cmpd="sng">
            <a:noFill/>
            <a:prstDash val="solid"/>
            <a:round/>
          </a:ln>
          <a:effectLst>
            <a:outerShdw blurRad="254000" dist="101600" dir="2700000" algn="tl" rotWithShape="0">
              <a:srgbClr val="000000">
                <a:alpha val="10000"/>
              </a:srgbClr>
            </a:outerShdw>
          </a:effec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877B92-C0ED-B134-A5CB-105B928BBC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图片 16" descr="图形用户界面, 文本, 应用程序&#10;&#10;AI 生成的内容可能不正确。">
            <a:extLst>
              <a:ext uri="{FF2B5EF4-FFF2-40B4-BE49-F238E27FC236}">
                <a16:creationId xmlns:a16="http://schemas.microsoft.com/office/drawing/2014/main" id="{048DE822-3998-053E-AAD0-FC20B399AD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0214" y="0"/>
            <a:ext cx="763157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48705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1016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007AFF"/>
                </a:solidFill>
                <a:latin typeface="Noto Sans SC"/>
                <a:ea typeface="Noto Sans SC"/>
                <a:cs typeface="Noto Sans SC"/>
                <a:sym typeface="Noto Sans SC"/>
              </a:rPr>
              <a:t>三步轻松上手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2032000"/>
            <a:ext cx="3302000" cy="3810000"/>
          </a:xfrm>
          <a:prstGeom prst="roundRect">
            <a:avLst>
              <a:gd name="adj" fmla="val 3846"/>
            </a:avLst>
          </a:prstGeom>
          <a:solidFill>
            <a:srgbClr val="FFFFFF">
              <a:alpha val="9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000000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rcRect t="13636" b="13636"/>
          <a:stretch>
            <a:fillRect/>
          </a:stretch>
        </p:blipFill>
        <p:spPr>
          <a:xfrm>
            <a:off x="1016000" y="2286000"/>
            <a:ext cx="2794000" cy="2032000"/>
          </a:xfrm>
          <a:prstGeom prst="roundRect">
            <a:avLst>
              <a:gd name="adj" fmla="val 6250"/>
            </a:avLst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5" name="AutoShape 5"/>
          <p:cNvSpPr/>
          <p:nvPr/>
        </p:nvSpPr>
        <p:spPr>
          <a:xfrm>
            <a:off x="1016000" y="4445000"/>
            <a:ext cx="279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01. 上传文件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016000" y="4826000"/>
            <a:ext cx="2794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拖拽或点击选择PDF、DOCX、TXT等格式文件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4445000" y="2032000"/>
            <a:ext cx="3302000" cy="3810000"/>
          </a:xfrm>
          <a:prstGeom prst="roundRect">
            <a:avLst>
              <a:gd name="adj" fmla="val 3846"/>
            </a:avLst>
          </a:prstGeom>
          <a:solidFill>
            <a:srgbClr val="FFFFFF">
              <a:alpha val="9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000000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5"/>
          <a:srcRect t="13636" b="13636"/>
          <a:stretch>
            <a:fillRect/>
          </a:stretch>
        </p:blipFill>
        <p:spPr>
          <a:xfrm>
            <a:off x="4699000" y="2286000"/>
            <a:ext cx="2794000" cy="2032000"/>
          </a:xfrm>
          <a:prstGeom prst="roundRect">
            <a:avLst>
              <a:gd name="adj" fmla="val 6250"/>
            </a:avLst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9" name="AutoShape 9"/>
          <p:cNvSpPr/>
          <p:nvPr/>
        </p:nvSpPr>
        <p:spPr>
          <a:xfrm>
            <a:off x="4699000" y="4445000"/>
            <a:ext cx="279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02. 选择功能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4699000" y="4826000"/>
            <a:ext cx="2794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根据需求一键选择总结、对比或翻译功能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8128000" y="2032000"/>
            <a:ext cx="3302000" cy="3810000"/>
          </a:xfrm>
          <a:prstGeom prst="roundRect">
            <a:avLst>
              <a:gd name="adj" fmla="val 3846"/>
            </a:avLst>
          </a:prstGeom>
          <a:solidFill>
            <a:srgbClr val="FFFFFF">
              <a:alpha val="9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000000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6"/>
          <a:srcRect t="13636" b="13636"/>
          <a:stretch>
            <a:fillRect/>
          </a:stretch>
        </p:blipFill>
        <p:spPr>
          <a:xfrm>
            <a:off x="8382000" y="2286000"/>
            <a:ext cx="2794000" cy="2032000"/>
          </a:xfrm>
          <a:prstGeom prst="roundRect">
            <a:avLst>
              <a:gd name="adj" fmla="val 6250"/>
            </a:avLst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3" name="AutoShape 13"/>
          <p:cNvSpPr/>
          <p:nvPr/>
        </p:nvSpPr>
        <p:spPr>
          <a:xfrm>
            <a:off x="8382000" y="4445000"/>
            <a:ext cx="279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03. 获取结果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8382000" y="4826000"/>
            <a:ext cx="2794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实时查看AI生成的分析结果，并支持一键导出</a:t>
            </a:r>
            <a:endParaRPr lang="en-US" sz="11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1016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007AFF"/>
                </a:solidFill>
                <a:latin typeface="Noto Sans SC"/>
                <a:ea typeface="Noto Sans SC"/>
                <a:cs typeface="Noto Sans SC"/>
                <a:sym typeface="Noto Sans SC"/>
              </a:rPr>
              <a:t>核心优势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2286000"/>
            <a:ext cx="2476500" cy="3302000"/>
          </a:xfrm>
          <a:prstGeom prst="roundRect">
            <a:avLst>
              <a:gd name="adj" fmla="val 5128"/>
            </a:avLst>
          </a:prstGeom>
          <a:solidFill>
            <a:srgbClr val="FFFFFF">
              <a:alpha val="90000"/>
            </a:srgbClr>
          </a:solidFill>
          <a:ln cap="flat" cmpd="sng">
            <a:solidFill>
              <a:srgbClr val="E6CFCF">
                <a:alpha val="90000"/>
              </a:srgbClr>
            </a:solidFill>
            <a:prstDash val="solid"/>
            <a:round/>
          </a:ln>
          <a:effectLst>
            <a:outerShdw blurRad="127000" dist="50800" dir="2700000" algn="tl" rotWithShape="0">
              <a:srgbClr val="007AFF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619250" y="2667000"/>
            <a:ext cx="762000" cy="7620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952500" y="3556000"/>
            <a:ext cx="2095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高效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952500" y="4000500"/>
            <a:ext cx="20955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一站式处理，节省时间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3492500" y="2286000"/>
            <a:ext cx="2476500" cy="3302000"/>
          </a:xfrm>
          <a:prstGeom prst="roundRect">
            <a:avLst>
              <a:gd name="adj" fmla="val 5128"/>
            </a:avLst>
          </a:prstGeom>
          <a:solidFill>
            <a:srgbClr val="FFFFFF">
              <a:alpha val="90000"/>
            </a:srgbClr>
          </a:solidFill>
          <a:ln cap="flat" cmpd="sng">
            <a:solidFill>
              <a:srgbClr val="E6CFCF">
                <a:alpha val="90000"/>
              </a:srgbClr>
            </a:solidFill>
            <a:prstDash val="solid"/>
            <a:round/>
          </a:ln>
          <a:effectLst>
            <a:outerShdw blurRad="127000" dist="50800" dir="2700000" algn="tl" rotWithShape="0">
              <a:srgbClr val="007AFF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349750" y="2667000"/>
            <a:ext cx="762000" cy="7620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3683000" y="3556000"/>
            <a:ext cx="2095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精准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3683000" y="4000500"/>
            <a:ext cx="20955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AI深度分析，结果可靠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6223000" y="2286000"/>
            <a:ext cx="2476500" cy="3302000"/>
          </a:xfrm>
          <a:prstGeom prst="roundRect">
            <a:avLst>
              <a:gd name="adj" fmla="val 5128"/>
            </a:avLst>
          </a:prstGeom>
          <a:solidFill>
            <a:srgbClr val="FFFFFF">
              <a:alpha val="90000"/>
            </a:srgbClr>
          </a:solidFill>
          <a:ln cap="flat" cmpd="sng">
            <a:solidFill>
              <a:srgbClr val="E6CFCF">
                <a:alpha val="90000"/>
              </a:srgbClr>
            </a:solidFill>
            <a:prstDash val="solid"/>
            <a:round/>
          </a:ln>
          <a:effectLst>
            <a:outerShdw blurRad="127000" dist="50800" dir="2700000" algn="tl" rotWithShape="0">
              <a:srgbClr val="007AFF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080250" y="2667000"/>
            <a:ext cx="762000" cy="7620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6413500" y="3556000"/>
            <a:ext cx="2095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便捷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6413500" y="4000500"/>
            <a:ext cx="20955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拖拽操作，一键导出，本地历史记录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8953500" y="2286000"/>
            <a:ext cx="2476500" cy="3302000"/>
          </a:xfrm>
          <a:prstGeom prst="roundRect">
            <a:avLst>
              <a:gd name="adj" fmla="val 5128"/>
            </a:avLst>
          </a:prstGeom>
          <a:solidFill>
            <a:srgbClr val="FFFFFF">
              <a:alpha val="90000"/>
            </a:srgbClr>
          </a:solidFill>
          <a:ln cap="flat" cmpd="sng">
            <a:solidFill>
              <a:srgbClr val="E6CFCF">
                <a:alpha val="90000"/>
              </a:srgbClr>
            </a:solidFill>
            <a:prstDash val="solid"/>
            <a:round/>
          </a:ln>
          <a:effectLst>
            <a:outerShdw blurRad="127000" dist="50800" dir="2700000" algn="tl" rotWithShape="0">
              <a:srgbClr val="007AFF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810750" y="2667000"/>
            <a:ext cx="762000" cy="7620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9144000" y="3556000"/>
            <a:ext cx="2095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安全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9144000" y="4000500"/>
            <a:ext cx="20955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纯前端实现，本地文件不上传（AI接口除外）</a:t>
            </a:r>
            <a:endParaRPr lang="en-US" sz="11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1016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007AFF"/>
                </a:solidFill>
                <a:latin typeface="Noto Sans SC"/>
                <a:ea typeface="Noto Sans SC"/>
                <a:cs typeface="Noto Sans SC"/>
                <a:sym typeface="Noto Sans SC"/>
              </a:rPr>
              <a:t>总结与展望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2032000"/>
            <a:ext cx="5080000" cy="1905000"/>
          </a:xfrm>
          <a:prstGeom prst="roundRect">
            <a:avLst>
              <a:gd name="adj" fmla="val 6666"/>
            </a:avLst>
          </a:prstGeom>
          <a:solidFill>
            <a:srgbClr val="FFFFFF">
              <a:alpha val="90000"/>
            </a:srgbClr>
          </a:solidFill>
          <a:ln cap="flat" cmpd="sng">
            <a:solidFill>
              <a:srgbClr val="E6CFCF">
                <a:alpha val="90000"/>
              </a:srgbClr>
            </a:solidFill>
            <a:prstDash val="solid"/>
            <a:round/>
          </a:ln>
          <a:effectLst>
            <a:outerShdw blurRad="127000" dist="50800" dir="2700000" algn="tl" rotWithShape="0">
              <a:srgbClr val="007AFF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6000" y="2286000"/>
            <a:ext cx="406400" cy="4064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1524000" y="2260600"/>
            <a:ext cx="4064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核心价值总结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016000" y="2730500"/>
            <a:ext cx="4572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文档智能总结助手是一款功能强大、操作便捷的AI文档处理工具，能有效提升文档处理效率，成为您的得力助手。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762000" y="4191000"/>
            <a:ext cx="5080000" cy="1905000"/>
          </a:xfrm>
          <a:prstGeom prst="roundRect">
            <a:avLst>
              <a:gd name="adj" fmla="val 6666"/>
            </a:avLst>
          </a:prstGeom>
          <a:solidFill>
            <a:srgbClr val="FFFFFF">
              <a:alpha val="90000"/>
            </a:srgbClr>
          </a:solidFill>
          <a:ln cap="flat" cmpd="sng">
            <a:solidFill>
              <a:srgbClr val="E6CFCF">
                <a:alpha val="90000"/>
              </a:srgbClr>
            </a:solidFill>
            <a:prstDash val="solid"/>
            <a:round/>
          </a:ln>
          <a:effectLst>
            <a:outerShdw blurRad="127000" dist="50800" dir="2700000" algn="tl" rotWithShape="0">
              <a:srgbClr val="007AFF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16000" y="4445000"/>
            <a:ext cx="406400" cy="4064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1524000" y="4419600"/>
            <a:ext cx="4064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未来功能展望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1016000" y="4889500"/>
            <a:ext cx="4572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持续优化AI算法，支持更多文件格式，增加多语言翻译、文档格式转换等实用功能，赋能更多业务场景。</a:t>
            </a:r>
            <a:endParaRPr lang="en-US" sz="1100"/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8"/>
          <a:srcRect l="13964" r="13964"/>
          <a:stretch>
            <a:fillRect/>
          </a:stretch>
        </p:blipFill>
        <p:spPr>
          <a:xfrm>
            <a:off x="6223000" y="2032000"/>
            <a:ext cx="5207000" cy="4064000"/>
          </a:xfrm>
          <a:prstGeom prst="roundRect">
            <a:avLst>
              <a:gd name="adj" fmla="val 3125"/>
            </a:avLst>
          </a:prstGeom>
          <a:noFill/>
          <a:ln w="25400" cap="flat" cmpd="sng">
            <a:noFill/>
            <a:prstDash val="solid"/>
            <a:round/>
          </a:ln>
          <a:effectLst>
            <a:outerShdw blurRad="190500" dist="76200" dir="2700000" algn="tl" rotWithShape="0">
              <a:srgbClr val="000000">
                <a:alpha val="15000"/>
              </a:srgbClr>
            </a:outerShdw>
          </a:effec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1932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1016000" y="2413000"/>
            <a:ext cx="10160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感谢观看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016000" y="3556000"/>
            <a:ext cx="1016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0" i="0" u="none" strike="noStrike">
                <a:solidFill>
                  <a:srgbClr val="FFFFFF">
                    <a:alpha val="85098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期待您的使用与反馈</a:t>
            </a:r>
            <a:endParaRPr lang="en-US" sz="1100"/>
          </a:p>
        </p:txBody>
      </p:sp>
      <p:cxnSp>
        <p:nvCxnSpPr>
          <p:cNvPr id="6" name="Connector 6"/>
          <p:cNvCxnSpPr/>
          <p:nvPr/>
        </p:nvCxnSpPr>
        <p:spPr>
          <a:xfrm rot="-57290">
            <a:off x="5715053" y="4248150"/>
            <a:ext cx="76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38100" cap="flat" cmpd="sng">
            <a:solidFill>
              <a:srgbClr val="007AFF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495</Words>
  <Application>Microsoft Office PowerPoint</Application>
  <PresentationFormat>宽屏</PresentationFormat>
  <Paragraphs>97</Paragraphs>
  <Slides>13</Slides>
  <Notes>13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13</vt:i4>
      </vt:variant>
    </vt:vector>
  </HeadingPairs>
  <TitlesOfParts>
    <vt:vector size="17" baseType="lpstr">
      <vt:lpstr>Noto Sans SC</vt:lpstr>
      <vt:lpstr>Arial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/>
  <cp:revision>3</cp:revision>
  <dcterms:modified xsi:type="dcterms:W3CDTF">2026-02-26T08:53:36Z</dcterms:modified>
</cp:coreProperties>
</file>